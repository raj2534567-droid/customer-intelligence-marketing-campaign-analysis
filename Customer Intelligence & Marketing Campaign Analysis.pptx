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05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4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584CC-37B6-4023-9106-A46DECF2E4A3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49FE61-6A31-4233-A2A0-3E91D8DB7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376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49FE61-6A31-4233-A2A0-3E91D8DB77D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514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305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282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17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54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70517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175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602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090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6/14/2026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633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02157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5285890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80353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855735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19042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828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035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58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08124-F982-CBE5-BB3C-0FE7CFDDEA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527048"/>
            <a:ext cx="6941989" cy="2039112"/>
          </a:xfrm>
        </p:spPr>
        <p:txBody>
          <a:bodyPr/>
          <a:lstStyle/>
          <a:p>
            <a:r>
              <a:rPr lang="en-IN" sz="3200" b="1" dirty="0">
                <a:solidFill>
                  <a:srgbClr val="002060"/>
                </a:solidFill>
              </a:rPr>
              <a:t>Customer Intelligence &amp; Marketing Campaign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79F170-E740-27F4-D5CC-90E83C00F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3703321"/>
            <a:ext cx="6539653" cy="1627631"/>
          </a:xfrm>
        </p:spPr>
        <p:txBody>
          <a:bodyPr>
            <a:no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Python | Machine Learning |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Statistical Analysis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| Power BI</a:t>
            </a:r>
          </a:p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Presented By</a:t>
            </a:r>
          </a:p>
          <a:p>
            <a:pPr algn="ctr"/>
            <a:r>
              <a:rPr lang="en-IN" b="1" dirty="0">
                <a:solidFill>
                  <a:srgbClr val="002060"/>
                </a:solidFill>
              </a:rPr>
              <a:t>Rajeshwari Patel</a:t>
            </a:r>
          </a:p>
          <a:p>
            <a:pPr algn="ctr"/>
            <a:r>
              <a:rPr lang="en-IN" dirty="0">
                <a:solidFill>
                  <a:srgbClr val="002060"/>
                </a:solidFill>
              </a:rPr>
              <a:t>Data Analyst</a:t>
            </a:r>
          </a:p>
          <a:p>
            <a:endParaRPr lang="en-IN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559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766C2-6B35-212F-5BCC-40AB074F2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916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Business Problem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83D50-B78B-1291-B7A9-32A033712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7633"/>
            <a:ext cx="8596668" cy="441373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solidFill>
                  <a:srgbClr val="002060"/>
                </a:solidFill>
              </a:rPr>
              <a:t>Objective</a:t>
            </a:r>
            <a:br>
              <a:rPr lang="en-IN" b="1" dirty="0"/>
            </a:b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Analyse customer behaviour and campaign performance to identify high-value customers and improve marketing effectiveness.</a:t>
            </a:r>
            <a:br>
              <a:rPr lang="en-IN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IN" b="1" dirty="0">
                <a:solidFill>
                  <a:srgbClr val="002060"/>
                </a:solidFill>
              </a:rPr>
              <a:t>Business Questions</a:t>
            </a:r>
            <a:br>
              <a:rPr lang="en-IN" b="1" dirty="0"/>
            </a:b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Who are the most valuable customers? </a:t>
            </a:r>
            <a:br>
              <a:rPr lang="en-IN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Which products drive revenue? </a:t>
            </a:r>
            <a:br>
              <a:rPr lang="en-IN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Which customers respond to campaigns? </a:t>
            </a:r>
            <a:br>
              <a:rPr lang="en-IN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How can marketing ROI be improved?</a:t>
            </a:r>
            <a:br>
              <a:rPr lang="en-IN" dirty="0">
                <a:solidFill>
                  <a:schemeClr val="accent2">
                    <a:lumMod val="50000"/>
                  </a:schemeClr>
                </a:solidFill>
              </a:rPr>
            </a:b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512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C7404-AE61-1CCB-8C6F-4A9C75C24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Dataset 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734FB-753E-B00D-0E56-07D6285D0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Total Customers: 2240 </a:t>
            </a:r>
          </a:p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Customer Demographics </a:t>
            </a:r>
          </a:p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Product Purchases </a:t>
            </a:r>
          </a:p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Campaign Response </a:t>
            </a:r>
          </a:p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Income Information </a:t>
            </a:r>
          </a:p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Purchase Channels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6AF877-7A3E-EFDA-2A92-785AEEF35F88}"/>
              </a:ext>
            </a:extLst>
          </p:cNvPr>
          <p:cNvSpPr/>
          <p:nvPr/>
        </p:nvSpPr>
        <p:spPr>
          <a:xfrm>
            <a:off x="4544568" y="2160589"/>
            <a:ext cx="4443984" cy="32983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B1E653A-2C4F-D2D6-96F1-36AE9EC0E216}"/>
              </a:ext>
            </a:extLst>
          </p:cNvPr>
          <p:cNvGrpSpPr/>
          <p:nvPr/>
        </p:nvGrpSpPr>
        <p:grpSpPr>
          <a:xfrm>
            <a:off x="4251960" y="1664208"/>
            <a:ext cx="5404104" cy="3880772"/>
            <a:chOff x="4251960" y="1664208"/>
            <a:chExt cx="5404104" cy="388077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6E94182-6C17-A4D9-DF26-B746F1D12CB0}"/>
                </a:ext>
              </a:extLst>
            </p:cNvPr>
            <p:cNvSpPr/>
            <p:nvPr/>
          </p:nvSpPr>
          <p:spPr>
            <a:xfrm>
              <a:off x="4251960" y="1664208"/>
              <a:ext cx="5404104" cy="3880772"/>
            </a:xfrm>
            <a:prstGeom prst="roundRect">
              <a:avLst>
                <a:gd name="adj" fmla="val 871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BDE38B4-00FD-FD45-A402-5C287692E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34256" y="1792224"/>
              <a:ext cx="5130777" cy="35661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0797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E9714-1D7D-CE0D-A619-E043FC4B7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60704"/>
            <a:ext cx="8596668" cy="869696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B301D-37CA-2B28-E7F5-16B86285E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Data Cleaning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Missing values handled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Outliers treated </a:t>
            </a:r>
          </a:p>
          <a:p>
            <a:r>
              <a:rPr lang="en-IN" b="1" dirty="0">
                <a:solidFill>
                  <a:srgbClr val="002060"/>
                </a:solidFill>
              </a:rPr>
              <a:t>Feature Engineering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Age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Family Size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Total Spend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Total Engagement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Income Group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RFM Metrics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2528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686CC-D9E4-5642-569C-3592D6534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Exploratory Data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11DE23-0B74-89E8-2B7D-978A6223CE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79534" y="3761772"/>
            <a:ext cx="5006774" cy="27986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6B6BEE-65B9-9E2E-8FF6-60DFE8F50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45893"/>
            <a:ext cx="5121084" cy="24422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8CFD67-A354-BFF2-BC51-C2C791A96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72" y="1339482"/>
            <a:ext cx="5151566" cy="22486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4C7C950-8744-5031-BABF-3FA7F2753B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213" y="4124444"/>
            <a:ext cx="6742321" cy="271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940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24D724FA-E3DC-3324-04EC-8C5F278FD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13" y="4510837"/>
            <a:ext cx="6109491" cy="23243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DE41B6-3308-D2B0-D36D-2D42B5DB3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2266851"/>
            <a:ext cx="6261904" cy="20273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7A8463-0F20-439F-B8A0-47919BFC11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862"/>
            <a:ext cx="6423949" cy="24157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1AB180A-B9D5-7FB2-9B45-0F79975E1F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9152" y="564647"/>
            <a:ext cx="5143946" cy="582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35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2AF128-EA78-73D4-4C46-D42A6AD37CD2}"/>
              </a:ext>
            </a:extLst>
          </p:cNvPr>
          <p:cNvSpPr txBox="1"/>
          <p:nvPr/>
        </p:nvSpPr>
        <p:spPr>
          <a:xfrm>
            <a:off x="836676" y="803440"/>
            <a:ext cx="6099048" cy="170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rgbClr val="002060"/>
                </a:solidFill>
              </a:rPr>
              <a:t>Key Findings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Wines generated highest revenue.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Store purchases dominated transactions.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High-income customers spent more.</a:t>
            </a:r>
          </a:p>
        </p:txBody>
      </p:sp>
    </p:spTree>
    <p:extLst>
      <p:ext uri="{BB962C8B-B14F-4D97-AF65-F5344CB8AC3E}">
        <p14:creationId xmlns:p14="http://schemas.microsoft.com/office/powerpoint/2010/main" val="2124803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F8125-C3E2-103A-B55E-288138602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Statistical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A1ADD-8917-983A-D4BF-F7D9674AF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Pearson Correlation Test</a:t>
            </a:r>
          </a:p>
          <a:p>
            <a:pPr marL="457200" lvl="1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Income vs Total Spend</a:t>
            </a:r>
          </a:p>
          <a:p>
            <a:r>
              <a:rPr lang="en-IN" dirty="0">
                <a:solidFill>
                  <a:srgbClr val="002060"/>
                </a:solidFill>
              </a:rPr>
              <a:t>Result: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Positive Correlation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Statistically Significant</a:t>
            </a:r>
          </a:p>
          <a:p>
            <a:r>
              <a:rPr lang="en-IN" b="1" dirty="0">
                <a:solidFill>
                  <a:srgbClr val="002060"/>
                </a:solidFill>
              </a:rPr>
              <a:t>Chi-Square Test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Customer characteristics and campaign response showed significant relationships.</a:t>
            </a:r>
          </a:p>
          <a:p>
            <a:r>
              <a:rPr lang="en-IN" b="1" dirty="0">
                <a:solidFill>
                  <a:srgbClr val="002060"/>
                </a:solidFill>
              </a:rPr>
              <a:t>T-Test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Customer groups exhibited differences in spending behaviour.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3858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21AE-569C-3C3F-D4AA-0F430EB13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64592"/>
            <a:ext cx="8596668" cy="932688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2060"/>
                </a:solidFill>
              </a:rPr>
              <a:t>Customer Segmentation (RFM)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AF6852-F00F-6F2F-6823-BD8E985326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434" y="832105"/>
            <a:ext cx="8691088" cy="51023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BD674B-D78A-BDBA-A874-C70B24289D2D}"/>
              </a:ext>
            </a:extLst>
          </p:cNvPr>
          <p:cNvSpPr txBox="1"/>
          <p:nvPr/>
        </p:nvSpPr>
        <p:spPr>
          <a:xfrm>
            <a:off x="1623060" y="6047077"/>
            <a:ext cx="6099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Champions and Loyal Customers contribute the highest value.</a:t>
            </a:r>
          </a:p>
        </p:txBody>
      </p:sp>
    </p:spTree>
    <p:extLst>
      <p:ext uri="{BB962C8B-B14F-4D97-AF65-F5344CB8AC3E}">
        <p14:creationId xmlns:p14="http://schemas.microsoft.com/office/powerpoint/2010/main" val="2228629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495ED-D1B5-AA9D-5077-55C5789C5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12776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2060"/>
                </a:solidFill>
              </a:rPr>
              <a:t>Machine Learning Model</a:t>
            </a:r>
            <a:br>
              <a:rPr lang="en-IN" sz="3200" b="1" dirty="0">
                <a:solidFill>
                  <a:srgbClr val="002060"/>
                </a:solidFill>
              </a:rPr>
            </a:br>
            <a:r>
              <a:rPr lang="en-IN" sz="2400" dirty="0"/>
              <a:t>Logistic Regression</a:t>
            </a:r>
            <a:endParaRPr lang="en-IN" sz="24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B01A0-03F7-0CD1-61AF-F653D1FC1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56233"/>
            <a:ext cx="8596668" cy="4185130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Objective:</a:t>
            </a:r>
            <a:br>
              <a:rPr lang="en-IN" dirty="0"/>
            </a:b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Predict customer campaign response</a:t>
            </a:r>
            <a:r>
              <a:rPr lang="en-IN" dirty="0"/>
              <a:t>.</a:t>
            </a:r>
          </a:p>
          <a:p>
            <a:r>
              <a:rPr lang="en-IN" b="1" dirty="0">
                <a:solidFill>
                  <a:srgbClr val="002060"/>
                </a:solidFill>
              </a:rPr>
              <a:t>Features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Income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Age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Spending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Engagement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Frequency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Recency</a:t>
            </a:r>
          </a:p>
          <a:p>
            <a:pPr marL="285750"/>
            <a:r>
              <a:rPr lang="en-IN" sz="2000" b="1" dirty="0">
                <a:solidFill>
                  <a:srgbClr val="002060"/>
                </a:solidFill>
              </a:rPr>
              <a:t>Accuracy Score : </a:t>
            </a:r>
            <a:r>
              <a:rPr lang="en-IN" b="1" dirty="0">
                <a:solidFill>
                  <a:srgbClr val="002060"/>
                </a:solidFill>
              </a:rPr>
              <a:t>83.48 %</a:t>
            </a:r>
          </a:p>
          <a:p>
            <a:pPr marL="285750"/>
            <a:endParaRPr lang="en-IN" sz="2000" b="1" dirty="0">
              <a:solidFill>
                <a:srgbClr val="00206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2258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E59FE-4A11-CD9A-BE17-6488FCDDC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8976"/>
            <a:ext cx="8844234" cy="707136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2060"/>
                </a:solidFill>
              </a:rPr>
              <a:t>Power BI Dashboard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8079CA3F-AE83-3235-2687-2A43A16BD3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822960"/>
            <a:ext cx="11045952" cy="632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89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5C9C697-7ACD-4821-066A-12CA53080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945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425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F0428E-D86C-E0A2-4BB3-37CBFF509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" y="0"/>
            <a:ext cx="11083385" cy="671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100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8596C1A-D9D1-CEFA-CBBC-AC40F274A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"/>
            <a:ext cx="10379375" cy="678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407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C5ECB8-656E-82C9-662D-C9C1F40E8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09728"/>
            <a:ext cx="11722608" cy="666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299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135C57-3A4D-ADA4-1E6A-AECDBFF4E4D5}"/>
              </a:ext>
            </a:extLst>
          </p:cNvPr>
          <p:cNvSpPr txBox="1"/>
          <p:nvPr/>
        </p:nvSpPr>
        <p:spPr>
          <a:xfrm>
            <a:off x="132588" y="121658"/>
            <a:ext cx="60990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002060"/>
                </a:solidFill>
              </a:rPr>
              <a:t>Insights &amp;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E0F4F4-F8E6-787C-83B2-8F3D78B3CD7C}"/>
              </a:ext>
            </a:extLst>
          </p:cNvPr>
          <p:cNvSpPr txBox="1"/>
          <p:nvPr/>
        </p:nvSpPr>
        <p:spPr>
          <a:xfrm>
            <a:off x="713232" y="965121"/>
            <a:ext cx="6976872" cy="502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002060"/>
                </a:solidFill>
              </a:rPr>
              <a:t>Insights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High-income customers spend more.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Customer engagement increases spending.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Wines are the top revenue category.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Champions and Loyal Customers generate maximum value.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2060"/>
                </a:solidFill>
              </a:rPr>
              <a:t>At-Risk customers require retention efforts.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rgbClr val="002060"/>
                </a:solidFill>
              </a:rPr>
              <a:t>Recommendations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Focus on high-value segments.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Improve customer retention.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Increase customer engagement.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Use targeted marketing campaigns.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Apply predictive analytics for future campaigns. </a:t>
            </a:r>
          </a:p>
        </p:txBody>
      </p:sp>
    </p:spTree>
    <p:extLst>
      <p:ext uri="{BB962C8B-B14F-4D97-AF65-F5344CB8AC3E}">
        <p14:creationId xmlns:p14="http://schemas.microsoft.com/office/powerpoint/2010/main" val="1882671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ADD892-CE28-3753-1ADF-039061BEDF7F}"/>
              </a:ext>
            </a:extLst>
          </p:cNvPr>
          <p:cNvSpPr txBox="1"/>
          <p:nvPr/>
        </p:nvSpPr>
        <p:spPr>
          <a:xfrm>
            <a:off x="530352" y="2279410"/>
            <a:ext cx="861822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200" b="1" dirty="0">
                <a:solidFill>
                  <a:srgbClr val="002060"/>
                </a:solidFill>
              </a:rPr>
              <a:t>Thank You</a:t>
            </a:r>
          </a:p>
          <a:p>
            <a:pPr algn="ctr">
              <a:buNone/>
            </a:pPr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Questions &amp; Discussion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4CB2D7-F83A-66A7-C14D-713D83264BDD}"/>
              </a:ext>
            </a:extLst>
          </p:cNvPr>
          <p:cNvSpPr txBox="1"/>
          <p:nvPr/>
        </p:nvSpPr>
        <p:spPr>
          <a:xfrm>
            <a:off x="1789938" y="3362420"/>
            <a:ext cx="6531102" cy="198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rgbClr val="002060"/>
                </a:solidFill>
              </a:rPr>
              <a:t>Customer Intelligence &amp; Marketing Campaign Analysis</a:t>
            </a:r>
          </a:p>
          <a:p>
            <a:pPr algn="ctr">
              <a:lnSpc>
                <a:spcPct val="150000"/>
              </a:lnSpc>
              <a:buNone/>
            </a:pPr>
            <a:r>
              <a:rPr lang="en-IN" dirty="0">
                <a:solidFill>
                  <a:srgbClr val="002060"/>
                </a:solidFill>
              </a:rPr>
              <a:t>Prepared By</a:t>
            </a:r>
          </a:p>
          <a:p>
            <a:pPr algn="ctr">
              <a:lnSpc>
                <a:spcPct val="150000"/>
              </a:lnSpc>
              <a:buNone/>
            </a:pPr>
            <a:r>
              <a:rPr lang="en-IN" b="1" dirty="0">
                <a:solidFill>
                  <a:srgbClr val="002060"/>
                </a:solidFill>
              </a:rPr>
              <a:t>Rajeshwari Patel</a:t>
            </a:r>
            <a:endParaRPr lang="en-IN" dirty="0">
              <a:solidFill>
                <a:srgbClr val="002060"/>
              </a:solidFill>
            </a:endParaRPr>
          </a:p>
          <a:p>
            <a:pPr algn="ctr">
              <a:lnSpc>
                <a:spcPct val="150000"/>
              </a:lnSpc>
              <a:buNone/>
            </a:pPr>
            <a:r>
              <a:rPr lang="en-IN" dirty="0">
                <a:solidFill>
                  <a:srgbClr val="002060"/>
                </a:solidFill>
              </a:rPr>
              <a:t>Python | Machine Learning | Power BI |Statistical Analysis</a:t>
            </a:r>
          </a:p>
        </p:txBody>
      </p:sp>
    </p:spTree>
    <p:extLst>
      <p:ext uri="{BB962C8B-B14F-4D97-AF65-F5344CB8AC3E}">
        <p14:creationId xmlns:p14="http://schemas.microsoft.com/office/powerpoint/2010/main" val="42852796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197</TotalTime>
  <Words>300</Words>
  <Application>Microsoft Office PowerPoint</Application>
  <PresentationFormat>Widescreen</PresentationFormat>
  <Paragraphs>75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Trebuchet MS</vt:lpstr>
      <vt:lpstr>Wingdings 3</vt:lpstr>
      <vt:lpstr>Facet</vt:lpstr>
      <vt:lpstr>Customer Intelligence &amp; Marketing Campaign Analysis</vt:lpstr>
      <vt:lpstr>Business Problem </vt:lpstr>
      <vt:lpstr>Dataset Overview </vt:lpstr>
      <vt:lpstr>Data Preparation</vt:lpstr>
      <vt:lpstr>Exploratory Data Analysis</vt:lpstr>
      <vt:lpstr>PowerPoint Presentation</vt:lpstr>
      <vt:lpstr>PowerPoint Presentation</vt:lpstr>
      <vt:lpstr>Statistical Analysis</vt:lpstr>
      <vt:lpstr>Customer Segmentation (RFM)</vt:lpstr>
      <vt:lpstr>Machine Learning Model Logistic Regression</vt:lpstr>
      <vt:lpstr>Power BI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 SINGH</dc:creator>
  <cp:lastModifiedBy>ABHI SINGH</cp:lastModifiedBy>
  <cp:revision>1</cp:revision>
  <dcterms:created xsi:type="dcterms:W3CDTF">2026-06-14T11:05:53Z</dcterms:created>
  <dcterms:modified xsi:type="dcterms:W3CDTF">2026-06-14T14:23:47Z</dcterms:modified>
</cp:coreProperties>
</file>